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70849aa6fba24fff" /><Relationship Type="http://schemas.openxmlformats.org/package/2006/relationships/metadata/core-properties" Target="/docProps/core.xml" Id="Rd29d3235801640ee" /><Relationship Type="http://schemas.openxmlformats.org/officeDocument/2006/relationships/extended-properties" Target="/docProps/app.xml" Id="R4deb104233d149f0" /><Relationship Type="http://schemas.openxmlformats.org/officeDocument/2006/relationships/custom-properties" Target="/docProps/custom.xml" Id="Reefff9ed5f0546b3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e3d1d2176c6449cd"/>
    <p:sldId id="257" r:id="Re8c399aa1a664113"/>
    <p:sldId id="258" r:id="R4d82f7e39e474f70"/>
    <p:sldId id="259" r:id="Reda539e5b354460a"/>
    <p:sldId id="260" r:id="Rd8a8c38649344925"/>
    <p:sldId id="261" r:id="R339b06c5941846d4"/>
    <p:sldId id="262" r:id="R89603cb20064442c"/>
    <p:sldId id="263" r:id="R440c14f6f4974dc0"/>
    <p:sldId id="264" r:id="R48e4af8a1e0b4dc5"/>
    <p:sldId id="265" r:id="R22bca29bd7fc49d8"/>
    <p:sldId id="266" r:id="Raead6209709340e1"/>
    <p:sldId id="267" r:id="R77aa1d0453c240cb"/>
    <p:sldId id="268" r:id="R79395240c02f4bbf"/>
    <p:sldId id="269" r:id="Rd1cd242a8b134bc1"/>
    <p:sldId id="270" r:id="Rff2a4823919b4ad3"/>
    <p:sldId id="271" r:id="R7de376a165704b0b"/>
    <p:sldId id="272" r:id="R3576b2142cff41d1"/>
    <p:sldId id="273" r:id="R9a6d7a2e3c3f43ac"/>
    <p:sldId id="274" r:id="R3cb0834b9319451b"/>
    <p:sldId id="275" r:id="R5d1a8114a3cf4ce9"/>
    <p:sldId id="276" r:id="R4b2e923736104ee7"/>
    <p:sldId id="277" r:id="R8fb3b3cf83694e5d"/>
    <p:sldId id="278" r:id="R283f2495686a40e3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e3d1d2176c6449cd" /><Relationship Type="http://schemas.openxmlformats.org/officeDocument/2006/relationships/slide" Target="/ppt/slides/slide2.xml" Id="Re8c399aa1a664113" /><Relationship Type="http://schemas.openxmlformats.org/officeDocument/2006/relationships/slide" Target="/ppt/slides/slide3.xml" Id="R4d82f7e39e474f70" /><Relationship Type="http://schemas.openxmlformats.org/officeDocument/2006/relationships/slide" Target="/ppt/slides/slide4.xml" Id="Reda539e5b354460a" /><Relationship Type="http://schemas.openxmlformats.org/officeDocument/2006/relationships/slide" Target="/ppt/slides/slide5.xml" Id="Rd8a8c38649344925" /><Relationship Type="http://schemas.openxmlformats.org/officeDocument/2006/relationships/slide" Target="/ppt/slides/slide6.xml" Id="R339b06c5941846d4" /><Relationship Type="http://schemas.openxmlformats.org/officeDocument/2006/relationships/slide" Target="/ppt/slides/slide7.xml" Id="R89603cb20064442c" /><Relationship Type="http://schemas.openxmlformats.org/officeDocument/2006/relationships/slide" Target="/ppt/slides/slide8.xml" Id="R440c14f6f4974dc0" /><Relationship Type="http://schemas.openxmlformats.org/officeDocument/2006/relationships/slide" Target="/ppt/slides/slide9.xml" Id="R48e4af8a1e0b4dc5" /><Relationship Type="http://schemas.openxmlformats.org/officeDocument/2006/relationships/slide" Target="/ppt/slides/slide10.xml" Id="R22bca29bd7fc49d8" /><Relationship Type="http://schemas.openxmlformats.org/officeDocument/2006/relationships/slide" Target="/ppt/slides/slide11.xml" Id="Raead6209709340e1" /><Relationship Type="http://schemas.openxmlformats.org/officeDocument/2006/relationships/slide" Target="/ppt/slides/slide12.xml" Id="R77aa1d0453c240cb" /><Relationship Type="http://schemas.openxmlformats.org/officeDocument/2006/relationships/slide" Target="/ppt/slides/slide13.xml" Id="R79395240c02f4bbf" /><Relationship Type="http://schemas.openxmlformats.org/officeDocument/2006/relationships/slide" Target="/ppt/slides/slide14.xml" Id="Rd1cd242a8b134bc1" /><Relationship Type="http://schemas.openxmlformats.org/officeDocument/2006/relationships/slide" Target="/ppt/slides/slide15.xml" Id="Rff2a4823919b4ad3" /><Relationship Type="http://schemas.openxmlformats.org/officeDocument/2006/relationships/slide" Target="/ppt/slides/slide16.xml" Id="R7de376a165704b0b" /><Relationship Type="http://schemas.openxmlformats.org/officeDocument/2006/relationships/slide" Target="/ppt/slides/slide17.xml" Id="R3576b2142cff41d1" /><Relationship Type="http://schemas.openxmlformats.org/officeDocument/2006/relationships/slide" Target="/ppt/slides/slide18.xml" Id="R9a6d7a2e3c3f43ac" /><Relationship Type="http://schemas.openxmlformats.org/officeDocument/2006/relationships/slide" Target="/ppt/slides/slide19.xml" Id="R3cb0834b9319451b" /><Relationship Type="http://schemas.openxmlformats.org/officeDocument/2006/relationships/slide" Target="/ppt/slides/slide20.xml" Id="R5d1a8114a3cf4ce9" /><Relationship Type="http://schemas.openxmlformats.org/officeDocument/2006/relationships/slide" Target="/ppt/slides/slide21.xml" Id="R4b2e923736104ee7" /><Relationship Type="http://schemas.openxmlformats.org/officeDocument/2006/relationships/slide" Target="/ppt/slides/slide22.xml" Id="R8fb3b3cf83694e5d" /><Relationship Type="http://schemas.openxmlformats.org/officeDocument/2006/relationships/slide" Target="/ppt/slides/slide23.xml" Id="R283f2495686a40e3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0bc4e477ed476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e490f916a449b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f2a71197804a9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0e04dd4a5846d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00dc2101e449f3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97e1af68de854e66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49754da98049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9b8c05c2144e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55b0f0340849a9" /><Relationship Type="http://schemas.openxmlformats.org/officeDocument/2006/relationships/image" Target="/ppt/media/image.png" Id="Rfb5e1a1e17454bf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fad168a41c4d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4f105143e24618" /><Relationship Type="http://schemas.openxmlformats.org/officeDocument/2006/relationships/image" Target="/ppt/media/image2.png" Id="Rd039ca5b6bbf4be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82860d3dc64d48" /><Relationship Type="http://schemas.openxmlformats.org/officeDocument/2006/relationships/image" Target="/ppt/media/image3.png" Id="Rb1bcb7ade1ef4c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b826b5a3704032" /><Relationship Type="http://schemas.openxmlformats.org/officeDocument/2006/relationships/image" Target="/ppt/media/image4.png" Id="R16cdee46042143d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901d63f9fb443d" /><Relationship Type="http://schemas.openxmlformats.org/officeDocument/2006/relationships/image" Target="/ppt/media/image5.png" Id="R1f1caf4941f142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be403169604363" /><Relationship Type="http://schemas.openxmlformats.org/officeDocument/2006/relationships/image" Target="/ppt/media/image6.png" Id="R9a4c83a50a7a456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960287d04b48b5" /><Relationship Type="http://schemas.openxmlformats.org/officeDocument/2006/relationships/image" Target="/ppt/media/image7.png" Id="Rec3c569b1fa34d2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a72fc73ab54506" /><Relationship Type="http://schemas.openxmlformats.org/officeDocument/2006/relationships/image" Target="/ppt/media/image8.png" Id="R64676035f54842f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b496b9c0ab4ebb" /><Relationship Type="http://schemas.openxmlformats.org/officeDocument/2006/relationships/image" Target="/ppt/media/image9.png" Id="Raa9bf3b456a1495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357ef5a05b48c6" /><Relationship Type="http://schemas.openxmlformats.org/officeDocument/2006/relationships/image" Target="/ppt/media/image10.png" Id="R85cd31c515a7422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3293945a374b22" /><Relationship Type="http://schemas.openxmlformats.org/officeDocument/2006/relationships/image" Target="/ppt/media/image11.png" Id="Re2eb421df50b4dc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9f501eb27b47b8" /><Relationship Type="http://schemas.openxmlformats.org/officeDocument/2006/relationships/image" Target="/ppt/media/image12.png" Id="R80fa5a4bbe1e4f2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81924ae11c4d4d" /><Relationship Type="http://schemas.openxmlformats.org/officeDocument/2006/relationships/image" Target="/ppt/media/image13.png" Id="R3680db75df8245d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188c657e264825" /><Relationship Type="http://schemas.openxmlformats.org/officeDocument/2006/relationships/image" Target="/ppt/media/image14.png" Id="Rc54419ff60c5433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2149f3e6bf4906" /><Relationship Type="http://schemas.openxmlformats.org/officeDocument/2006/relationships/image" Target="/ppt/media/image15.png" Id="Rccb5fbd885a34e4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29db23e2174354" /><Relationship Type="http://schemas.openxmlformats.org/officeDocument/2006/relationships/image" Target="/ppt/media/image16.png" Id="R235b8554f3d947e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99cf791baf49e6" /><Relationship Type="http://schemas.openxmlformats.org/officeDocument/2006/relationships/image" Target="/ppt/media/image17.png" Id="Raa1e16c7d15f4d1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0ddd06de7a4cb6" /><Relationship Type="http://schemas.openxmlformats.org/officeDocument/2006/relationships/image" Target="/ppt/media/image18.png" Id="Rabbfbda348f24c0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e4b4e13a7a4dd2" /><Relationship Type="http://schemas.openxmlformats.org/officeDocument/2006/relationships/image" Target="/ppt/media/image19.png" Id="R7e7d4d39df3d447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adb6f344754586" /><Relationship Type="http://schemas.openxmlformats.org/officeDocument/2006/relationships/image" Target="/ppt/media/image20.png" Id="R7508fe2de6a34c40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914400" y="2286000"/>
            <a:ext cx="1033272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400" b="1"/>
              <a:t>Mermaid Diagrams</a:t>
            </a:r>
          </a:p>
        </p:txBody>
      </p:sp>
      <p:sp>
        <p:nvSpPr>
          <p:cNvPr id="100001" name="TextBox 2"/>
          <p:cNvSpPr txBox="1"/>
          <p:nvPr/>
        </p:nvSpPr>
        <p:spPr>
          <a:xfrm>
            <a:off x="914400" y="3291840"/>
            <a:ext cx="10332720" cy="54864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2000">
                <a:solidFill>
                  <a:srgbClr val="595959"/>
                </a:solidFill>
              </a:rPr>
              <a:t>native editable shapes  ·  full-fidelity PNG for every mermaid type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2" name="TextBox 1"/>
          <p:cNvSpPr txBox="1"/>
          <p:nvPr/>
        </p:nvSpPr>
        <p:spPr>
          <a:xfrm xmlns:a="http://schemas.openxmlformats.org/drawingml/2006/main">
            <a:off x="457200" y="274320"/>
            <a:ext cx="1124712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/>
              <a:t>render=native — flowchart (editable shapes + connectors)</a:t>
            </a:r>
          </a:p>
        </p:txBody>
      </p:sp>
      <p:grpSp>
        <p:nvGrpSpPr>
          <p:cNvPr id="100003" name="Diagram 100003"/>
          <p:cNvGrpSpPr/>
          <p:nvPr/>
        </p:nvGrpSpPr>
        <p:grpSpPr>
          <a:xfrm>
            <a:off x="4795058" y="1097280"/>
            <a:ext cx="2571404" cy="5303520"/>
            <a:chOff x="4795058" y="1097280"/>
            <a:chExt cx="2571404" cy="5303520"/>
          </a:xfrm>
        </p:grpSpPr>
        <p:sp>
          <p:nvSpPr>
            <p:cNvPr id="100004" name="DiagramShape 100004"/>
            <p:cNvSpPr/>
            <p:nvPr/>
          </p:nvSpPr>
          <p:spPr>
            <a:xfrm>
              <a:off x="5786120" y="1354420"/>
              <a:ext cx="535709" cy="282854"/>
            </a:xfrm>
            <a:prstGeom prst="roundRect">
              <a:avLst/>
            </a:prstGeom>
            <a:solidFill>
              <a:srgbClr val="D5E8D4"/>
            </a:solidFill>
            <a:ln w="9525">
              <a:solidFill>
                <a:srgbClr val="82B366"/>
              </a:solidFill>
            </a:ln>
          </p:spPr>
          <p:txBody>
            <a:bodyPr wrap="square" lIns="0" tIns="0" rIns="0" bIns="0" anchor="ctr">
              <a:normAutofit/>
            </a:bodyPr>
            <a:lstStyle/>
            <a:p>
              <a:pPr algn="ctr"/>
              <a:r>
                <a:rPr lang="en-US" sz="1100"/>
                <a:t>Start</a:t>
              </a:r>
            </a:p>
          </p:txBody>
        </p:sp>
        <p:sp>
          <p:nvSpPr>
            <p:cNvPr id="100005" name="DiagramShape 100005"/>
            <p:cNvSpPr/>
            <p:nvPr/>
          </p:nvSpPr>
          <p:spPr>
            <a:xfrm>
              <a:off x="5381124" y="2862977"/>
              <a:ext cx="1345701" cy="471424"/>
            </a:xfrm>
            <a:prstGeom prst="diamond">
              <a:avLst/>
            </a:prstGeom>
            <a:solidFill>
              <a:srgbClr val="FFF2CC"/>
            </a:solidFill>
            <a:ln w="9525">
              <a:solidFill>
                <a:srgbClr val="D6B656"/>
              </a:solidFill>
            </a:ln>
          </p:spPr>
          <p:txBody>
            <a:bodyPr wrap="square" lIns="0" tIns="0" rIns="0" bIns="0" anchor="ctr">
              <a:normAutofit/>
            </a:bodyPr>
            <a:lstStyle/>
            <a:p>
              <a:pPr algn="ctr"/>
              <a:r>
                <a:rPr lang="en-US" sz="1100"/>
                <a:t>Decision</a:t>
              </a:r>
            </a:p>
          </p:txBody>
        </p:sp>
        <p:sp>
          <p:nvSpPr>
            <p:cNvPr id="100006" name="DiagramShape 100006"/>
            <p:cNvSpPr/>
            <p:nvPr/>
          </p:nvSpPr>
          <p:spPr>
            <a:xfrm>
              <a:off x="5148626" y="3805825"/>
              <a:ext cx="664279" cy="282854"/>
            </a:xfrm>
            <a:prstGeom prst="rect">
              <a:avLst/>
            </a:prstGeom>
            <a:solidFill>
              <a:srgbClr val="DAE8FC"/>
            </a:solidFill>
            <a:ln w="9525">
              <a:solidFill>
                <a:srgbClr val="6C8EBF"/>
              </a:solidFill>
            </a:ln>
          </p:spPr>
          <p:txBody>
            <a:bodyPr wrap="square" lIns="0" tIns="0" rIns="0" bIns="0" anchor="ctr">
              <a:normAutofit/>
            </a:bodyPr>
            <a:lstStyle/>
            <a:p>
              <a:pPr algn="ctr"/>
              <a:r>
                <a:rPr lang="en-US" sz="1100"/>
                <a:t>Process</a:t>
              </a:r>
            </a:p>
          </p:txBody>
        </p:sp>
        <p:sp>
          <p:nvSpPr>
            <p:cNvPr id="100007" name="DiagramShape 100007"/>
            <p:cNvSpPr/>
            <p:nvPr/>
          </p:nvSpPr>
          <p:spPr>
            <a:xfrm>
              <a:off x="6262901" y="3805825"/>
              <a:ext cx="728564" cy="432853"/>
            </a:xfrm>
            <a:prstGeom prst="can">
              <a:avLst/>
            </a:prstGeom>
            <a:solidFill>
              <a:srgbClr val="E1D5E7"/>
            </a:solidFill>
            <a:ln w="9525">
              <a:solidFill>
                <a:srgbClr val="9673A6"/>
              </a:solidFill>
            </a:ln>
          </p:spPr>
          <p:txBody>
            <a:bodyPr wrap="square" lIns="0" tIns="0" rIns="0" bIns="0" anchor="ctr">
              <a:normAutofit/>
            </a:bodyPr>
            <a:lstStyle/>
            <a:p>
              <a:pPr algn="ctr"/>
              <a:r>
                <a:rPr lang="en-US" sz="1100"/>
                <a:t>Database</a:t>
              </a:r>
            </a:p>
          </p:txBody>
        </p:sp>
        <p:sp>
          <p:nvSpPr>
            <p:cNvPr id="100008" name="DiagramShape 100008"/>
            <p:cNvSpPr/>
            <p:nvPr/>
          </p:nvSpPr>
          <p:spPr>
            <a:xfrm>
              <a:off x="5052199" y="4710102"/>
              <a:ext cx="857135" cy="282854"/>
            </a:xfrm>
            <a:prstGeom prst="rect">
              <a:avLst/>
            </a:prstGeom>
            <a:solidFill>
              <a:srgbClr val="DAE8FC"/>
            </a:solidFill>
            <a:ln w="9525">
              <a:solidFill>
                <a:srgbClr val="6C8EBF"/>
              </a:solidFill>
            </a:ln>
          </p:spPr>
          <p:txBody>
            <a:bodyPr wrap="square" lIns="0" tIns="0" rIns="0" bIns="0" anchor="ctr">
              <a:normAutofit/>
            </a:bodyPr>
            <a:lstStyle/>
            <a:p>
              <a:pPr algn="ctr"/>
              <a:r>
                <a:rPr lang="en-US" sz="1100"/>
                <a:t>Subroutine</a:t>
              </a:r>
            </a:p>
          </p:txBody>
        </p:sp>
        <p:sp>
          <p:nvSpPr>
            <p:cNvPr id="100009" name="DiagramShape 100009"/>
            <p:cNvSpPr/>
            <p:nvPr/>
          </p:nvSpPr>
          <p:spPr>
            <a:xfrm>
              <a:off x="6209330" y="4710102"/>
              <a:ext cx="835706" cy="325711"/>
            </a:xfrm>
            <a:prstGeom prst="hexagon">
              <a:avLst/>
            </a:prstGeom>
            <a:solidFill>
              <a:srgbClr val="FFF2CC"/>
            </a:solidFill>
            <a:ln w="9525">
              <a:solidFill>
                <a:srgbClr val="D6B656"/>
              </a:solidFill>
            </a:ln>
          </p:spPr>
          <p:txBody>
            <a:bodyPr wrap="square" lIns="0" tIns="0" rIns="0" bIns="0" anchor="ctr">
              <a:normAutofit/>
            </a:bodyPr>
            <a:lstStyle/>
            <a:p>
              <a:pPr algn="ctr"/>
              <a:r>
                <a:rPr lang="en-US" sz="1100"/>
                <a:t>Prepare</a:t>
              </a:r>
            </a:p>
          </p:txBody>
        </p:sp>
        <p:sp>
          <p:nvSpPr>
            <p:cNvPr id="100010" name="DiagramShape 100010"/>
            <p:cNvSpPr/>
            <p:nvPr/>
          </p:nvSpPr>
          <p:spPr>
            <a:xfrm>
              <a:off x="5735763" y="5507237"/>
              <a:ext cx="636422" cy="636422"/>
            </a:xfrm>
            <a:prstGeom prst="ellipse">
              <a:avLst/>
            </a:prstGeom>
            <a:solidFill>
              <a:srgbClr val="F8CECC"/>
            </a:solidFill>
            <a:ln w="9525">
              <a:solidFill>
                <a:srgbClr val="B85450"/>
              </a:solidFill>
            </a:ln>
          </p:spPr>
          <p:txBody>
            <a:bodyPr wrap="square" lIns="0" tIns="0" rIns="0" bIns="0" anchor="ctr">
              <a:normAutofit/>
            </a:bodyPr>
            <a:lstStyle/>
            <a:p>
              <a:pPr algn="ctr"/>
              <a:r>
                <a:rPr lang="en-US" sz="1100"/>
                <a:t>Done</a:t>
              </a:r>
            </a:p>
          </p:txBody>
        </p:sp>
        <p:sp>
          <p:nvSpPr>
            <p:cNvPr id="100011" name="DiagramShape 100011"/>
            <p:cNvSpPr/>
            <p:nvPr/>
          </p:nvSpPr>
          <p:spPr>
            <a:xfrm>
              <a:off x="5378981" y="2108699"/>
              <a:ext cx="707136" cy="282854"/>
            </a:xfrm>
            <a:prstGeom prst="parallelogram">
              <a:avLst/>
            </a:prstGeom>
            <a:solidFill>
              <a:srgbClr val="DAE8FC"/>
            </a:solidFill>
            <a:ln w="9525">
              <a:solidFill>
                <a:srgbClr val="6C8EBF"/>
              </a:solidFill>
            </a:ln>
          </p:spPr>
          <p:txBody>
            <a:bodyPr wrap="square" lIns="0" tIns="0" rIns="0" bIns="0" anchor="ctr">
              <a:normAutofit/>
            </a:bodyPr>
            <a:lstStyle/>
            <a:p>
              <a:pPr algn="ctr"/>
              <a:r>
                <a:rPr lang="en-US" sz="1100"/>
                <a:t>Input</a:t>
              </a:r>
            </a:p>
          </p:txBody>
        </p:sp>
        <p:cxnSp>
          <p:nvCxnSpPr>
            <p:cNvPr id="100012" name="DiagramEdge 100012"/>
            <p:cNvCxnSpPr/>
            <p:nvPr/>
          </p:nvCxnSpPr>
          <p:spPr>
            <a:xfrm>
              <a:off x="6143259" y="1637275"/>
              <a:ext cx="0" cy="262497"/>
            </a:xfrm>
            <a:prstGeom prst="straightConnector1">
              <a:avLst/>
            </a:prstGeom>
            <a:ln w="12700">
              <a:solidFill>
                <a:srgbClr val="4D4D4D"/>
              </a:solidFill>
            </a:ln>
          </p:spPr>
        </p:cxnSp>
        <p:cxnSp>
          <p:nvCxnSpPr>
            <p:cNvPr id="100013" name="DiagramEdge 100013"/>
            <p:cNvCxnSpPr/>
            <p:nvPr/>
          </p:nvCxnSpPr>
          <p:spPr>
            <a:xfrm>
              <a:off x="6143259" y="1899772"/>
              <a:ext cx="232141" cy="0"/>
            </a:xfrm>
            <a:prstGeom prst="straightConnector1">
              <a:avLst/>
            </a:prstGeom>
            <a:ln w="12700">
              <a:solidFill>
                <a:srgbClr val="4D4D4D"/>
              </a:solidFill>
            </a:ln>
          </p:spPr>
        </p:cxnSp>
        <p:cxnSp>
          <p:nvCxnSpPr>
            <p:cNvPr id="100014" name="DiagramEdge 100014"/>
            <p:cNvCxnSpPr/>
            <p:nvPr/>
          </p:nvCxnSpPr>
          <p:spPr>
            <a:xfrm>
              <a:off x="6375400" y="1899772"/>
              <a:ext cx="0" cy="262497"/>
            </a:xfrm>
            <a:prstGeom prst="straightConnector1">
              <a:avLst/>
            </a:prstGeom>
            <a:ln w="12700">
              <a:solidFill>
                <a:srgbClr val="4D4D4D"/>
              </a:solidFill>
            </a:ln>
          </p:spPr>
        </p:cxnSp>
        <p:cxnSp>
          <p:nvCxnSpPr>
            <p:cNvPr id="100015" name="DiagramEdge 100015"/>
            <p:cNvCxnSpPr/>
            <p:nvPr/>
          </p:nvCxnSpPr>
          <p:spPr>
            <a:xfrm>
              <a:off x="6375400" y="2162270"/>
              <a:ext cx="0" cy="350354"/>
            </a:xfrm>
            <a:prstGeom prst="straightConnector1">
              <a:avLst/>
            </a:prstGeom>
            <a:ln w="12700">
              <a:solidFill>
                <a:srgbClr val="4D4D4D"/>
              </a:solidFill>
            </a:ln>
          </p:spPr>
        </p:cxnSp>
        <p:cxnSp>
          <p:nvCxnSpPr>
            <p:cNvPr id="100016" name="DiagramEdge 100016"/>
            <p:cNvCxnSpPr/>
            <p:nvPr/>
          </p:nvCxnSpPr>
          <p:spPr>
            <a:xfrm flipH="1">
              <a:off x="6278258" y="2512623"/>
              <a:ext cx="97142" cy="0"/>
            </a:xfrm>
            <a:prstGeom prst="straightConnector1">
              <a:avLst/>
            </a:prstGeom>
            <a:ln w="12700">
              <a:solidFill>
                <a:srgbClr val="4D4D4D"/>
              </a:solidFill>
            </a:ln>
          </p:spPr>
        </p:cxnSp>
        <p:cxnSp>
          <p:nvCxnSpPr>
            <p:cNvPr id="100017" name="DiagramEdge 100017"/>
            <p:cNvCxnSpPr/>
            <p:nvPr/>
          </p:nvCxnSpPr>
          <p:spPr>
            <a:xfrm>
              <a:off x="6278258" y="2512623"/>
              <a:ext cx="0" cy="350354"/>
            </a:xfrm>
            <a:prstGeom prst="straightConnector1">
              <a:avLst/>
            </a:prstGeom>
            <a:ln w="12700">
              <a:solidFill>
                <a:srgbClr val="4D4D4D"/>
              </a:solidFill>
              <a:tailEnd type="triangle"/>
            </a:ln>
          </p:spPr>
        </p:cxnSp>
        <p:cxnSp>
          <p:nvCxnSpPr>
            <p:cNvPr id="100018" name="DiagramEdge 100018"/>
            <p:cNvCxnSpPr/>
            <p:nvPr/>
          </p:nvCxnSpPr>
          <p:spPr>
            <a:xfrm>
              <a:off x="5829691" y="3334401"/>
              <a:ext cx="0" cy="235712"/>
            </a:xfrm>
            <a:prstGeom prst="straightConnector1">
              <a:avLst/>
            </a:prstGeom>
            <a:ln w="12700">
              <a:solidFill>
                <a:srgbClr val="4D4D4D"/>
              </a:solidFill>
            </a:ln>
          </p:spPr>
        </p:cxnSp>
        <p:cxnSp>
          <p:nvCxnSpPr>
            <p:cNvPr id="100019" name="DiagramEdge 100019"/>
            <p:cNvCxnSpPr/>
            <p:nvPr/>
          </p:nvCxnSpPr>
          <p:spPr>
            <a:xfrm flipH="1">
              <a:off x="5480766" y="3570113"/>
              <a:ext cx="348925" cy="0"/>
            </a:xfrm>
            <a:prstGeom prst="straightConnector1">
              <a:avLst/>
            </a:prstGeom>
            <a:ln w="12700">
              <a:solidFill>
                <a:srgbClr val="4D4D4D"/>
              </a:solidFill>
            </a:ln>
          </p:spPr>
        </p:cxnSp>
        <p:cxnSp>
          <p:nvCxnSpPr>
            <p:cNvPr id="100020" name="DiagramEdge 100020"/>
            <p:cNvCxnSpPr/>
            <p:nvPr/>
          </p:nvCxnSpPr>
          <p:spPr>
            <a:xfrm>
              <a:off x="5480766" y="3570113"/>
              <a:ext cx="0" cy="235712"/>
            </a:xfrm>
            <a:prstGeom prst="straightConnector1">
              <a:avLst/>
            </a:prstGeom>
            <a:ln w="12700">
              <a:solidFill>
                <a:srgbClr val="4D4D4D"/>
              </a:solidFill>
              <a:tailEnd type="triangle"/>
            </a:ln>
          </p:spPr>
        </p:cxnSp>
        <p:cxnSp>
          <p:nvCxnSpPr>
            <p:cNvPr id="100021" name="DiagramEdge 100021"/>
            <p:cNvCxnSpPr/>
            <p:nvPr/>
          </p:nvCxnSpPr>
          <p:spPr>
            <a:xfrm>
              <a:off x="6278258" y="3334401"/>
              <a:ext cx="0" cy="235712"/>
            </a:xfrm>
            <a:prstGeom prst="straightConnector1">
              <a:avLst/>
            </a:prstGeom>
            <a:ln w="12700">
              <a:solidFill>
                <a:srgbClr val="4D4D4D"/>
              </a:solidFill>
            </a:ln>
          </p:spPr>
        </p:cxnSp>
        <p:cxnSp>
          <p:nvCxnSpPr>
            <p:cNvPr id="100022" name="DiagramEdge 100022"/>
            <p:cNvCxnSpPr/>
            <p:nvPr/>
          </p:nvCxnSpPr>
          <p:spPr>
            <a:xfrm>
              <a:off x="6278258" y="3570113"/>
              <a:ext cx="348925" cy="0"/>
            </a:xfrm>
            <a:prstGeom prst="straightConnector1">
              <a:avLst/>
            </a:prstGeom>
            <a:ln w="12700">
              <a:solidFill>
                <a:srgbClr val="4D4D4D"/>
              </a:solidFill>
            </a:ln>
          </p:spPr>
        </p:cxnSp>
        <p:cxnSp>
          <p:nvCxnSpPr>
            <p:cNvPr id="100023" name="DiagramEdge 100023"/>
            <p:cNvCxnSpPr/>
            <p:nvPr/>
          </p:nvCxnSpPr>
          <p:spPr>
            <a:xfrm>
              <a:off x="6627183" y="3570113"/>
              <a:ext cx="0" cy="235712"/>
            </a:xfrm>
            <a:prstGeom prst="straightConnector1">
              <a:avLst/>
            </a:prstGeom>
            <a:ln w="12700">
              <a:solidFill>
                <a:srgbClr val="4D4D4D"/>
              </a:solidFill>
              <a:tailEnd type="triangle"/>
            </a:ln>
          </p:spPr>
        </p:cxnSp>
        <p:cxnSp>
          <p:nvCxnSpPr>
            <p:cNvPr id="100024" name="DiagramEdge 100024"/>
            <p:cNvCxnSpPr/>
            <p:nvPr/>
          </p:nvCxnSpPr>
          <p:spPr>
            <a:xfrm>
              <a:off x="5480766" y="4088680"/>
              <a:ext cx="0" cy="621423"/>
            </a:xfrm>
            <a:prstGeom prst="straightConnector1">
              <a:avLst/>
            </a:prstGeom>
            <a:ln w="12700">
              <a:solidFill>
                <a:srgbClr val="4D4D4D"/>
              </a:solidFill>
              <a:tailEnd type="triangle"/>
            </a:ln>
          </p:spPr>
        </p:cxnSp>
        <p:cxnSp>
          <p:nvCxnSpPr>
            <p:cNvPr id="100025" name="DiagramEdge 100025"/>
            <p:cNvCxnSpPr/>
            <p:nvPr/>
          </p:nvCxnSpPr>
          <p:spPr>
            <a:xfrm>
              <a:off x="6627183" y="4238678"/>
              <a:ext cx="0" cy="471424"/>
            </a:xfrm>
            <a:prstGeom prst="straightConnector1">
              <a:avLst/>
            </a:prstGeom>
            <a:ln w="12700">
              <a:solidFill>
                <a:srgbClr val="4D4D4D"/>
              </a:solidFill>
              <a:tailEnd type="triangle"/>
            </a:ln>
          </p:spPr>
        </p:cxnSp>
        <p:cxnSp>
          <p:nvCxnSpPr>
            <p:cNvPr id="100026" name="DiagramEdge 100026"/>
            <p:cNvCxnSpPr/>
            <p:nvPr/>
          </p:nvCxnSpPr>
          <p:spPr>
            <a:xfrm>
              <a:off x="5480766" y="4992957"/>
              <a:ext cx="0" cy="257140"/>
            </a:xfrm>
            <a:prstGeom prst="straightConnector1">
              <a:avLst/>
            </a:prstGeom>
            <a:ln w="12700">
              <a:solidFill>
                <a:srgbClr val="4D4D4D"/>
              </a:solidFill>
            </a:ln>
          </p:spPr>
        </p:cxnSp>
        <p:cxnSp>
          <p:nvCxnSpPr>
            <p:cNvPr id="100027" name="DiagramEdge 100027"/>
            <p:cNvCxnSpPr/>
            <p:nvPr/>
          </p:nvCxnSpPr>
          <p:spPr>
            <a:xfrm>
              <a:off x="5480766" y="5250097"/>
              <a:ext cx="467138" cy="0"/>
            </a:xfrm>
            <a:prstGeom prst="straightConnector1">
              <a:avLst/>
            </a:prstGeom>
            <a:ln w="12700">
              <a:solidFill>
                <a:srgbClr val="4D4D4D"/>
              </a:solidFill>
            </a:ln>
          </p:spPr>
        </p:cxnSp>
        <p:cxnSp>
          <p:nvCxnSpPr>
            <p:cNvPr id="100028" name="DiagramEdge 100028"/>
            <p:cNvCxnSpPr/>
            <p:nvPr/>
          </p:nvCxnSpPr>
          <p:spPr>
            <a:xfrm>
              <a:off x="5947904" y="5250097"/>
              <a:ext cx="0" cy="257140"/>
            </a:xfrm>
            <a:prstGeom prst="straightConnector1">
              <a:avLst/>
            </a:prstGeom>
            <a:ln w="12700">
              <a:solidFill>
                <a:srgbClr val="4D4D4D"/>
              </a:solidFill>
              <a:tailEnd type="triangle"/>
            </a:ln>
          </p:spPr>
        </p:cxnSp>
        <p:cxnSp>
          <p:nvCxnSpPr>
            <p:cNvPr id="100029" name="DiagramEdge 100029"/>
            <p:cNvCxnSpPr/>
            <p:nvPr/>
          </p:nvCxnSpPr>
          <p:spPr>
            <a:xfrm>
              <a:off x="6627183" y="5035813"/>
              <a:ext cx="0" cy="235712"/>
            </a:xfrm>
            <a:prstGeom prst="straightConnector1">
              <a:avLst/>
            </a:prstGeom>
            <a:ln w="12700">
              <a:solidFill>
                <a:srgbClr val="4D4D4D"/>
              </a:solidFill>
            </a:ln>
          </p:spPr>
        </p:cxnSp>
        <p:cxnSp>
          <p:nvCxnSpPr>
            <p:cNvPr id="100030" name="DiagramEdge 100030"/>
            <p:cNvCxnSpPr/>
            <p:nvPr/>
          </p:nvCxnSpPr>
          <p:spPr>
            <a:xfrm flipH="1">
              <a:off x="6160045" y="5271525"/>
              <a:ext cx="467138" cy="0"/>
            </a:xfrm>
            <a:prstGeom prst="straightConnector1">
              <a:avLst/>
            </a:prstGeom>
            <a:ln w="12700">
              <a:solidFill>
                <a:srgbClr val="4D4D4D"/>
              </a:solidFill>
            </a:ln>
          </p:spPr>
        </p:cxnSp>
        <p:cxnSp>
          <p:nvCxnSpPr>
            <p:cNvPr id="100031" name="DiagramEdge 100031"/>
            <p:cNvCxnSpPr/>
            <p:nvPr/>
          </p:nvCxnSpPr>
          <p:spPr>
            <a:xfrm>
              <a:off x="6160045" y="5271525"/>
              <a:ext cx="0" cy="235712"/>
            </a:xfrm>
            <a:prstGeom prst="straightConnector1">
              <a:avLst/>
            </a:prstGeom>
            <a:ln w="12700">
              <a:solidFill>
                <a:srgbClr val="4D4D4D"/>
              </a:solidFill>
              <a:tailEnd type="triangle"/>
            </a:ln>
          </p:spPr>
        </p:cxnSp>
        <p:cxnSp>
          <p:nvCxnSpPr>
            <p:cNvPr id="100032" name="DiagramEdge 100032"/>
            <p:cNvCxnSpPr/>
            <p:nvPr/>
          </p:nvCxnSpPr>
          <p:spPr>
            <a:xfrm>
              <a:off x="5964690" y="1637275"/>
              <a:ext cx="0" cy="235712"/>
            </a:xfrm>
            <a:prstGeom prst="straightConnector1">
              <a:avLst/>
            </a:prstGeom>
            <a:ln w="12700">
              <a:solidFill>
                <a:srgbClr val="4D4D4D"/>
              </a:solidFill>
            </a:ln>
          </p:spPr>
        </p:cxnSp>
        <p:cxnSp>
          <p:nvCxnSpPr>
            <p:cNvPr id="100033" name="DiagramEdge 100033"/>
            <p:cNvCxnSpPr/>
            <p:nvPr/>
          </p:nvCxnSpPr>
          <p:spPr>
            <a:xfrm flipH="1">
              <a:off x="5732549" y="1872987"/>
              <a:ext cx="232141" cy="0"/>
            </a:xfrm>
            <a:prstGeom prst="straightConnector1">
              <a:avLst/>
            </a:prstGeom>
            <a:ln w="12700">
              <a:solidFill>
                <a:srgbClr val="4D4D4D"/>
              </a:solidFill>
            </a:ln>
          </p:spPr>
        </p:cxnSp>
        <p:cxnSp>
          <p:nvCxnSpPr>
            <p:cNvPr id="100034" name="DiagramEdge 100034"/>
            <p:cNvCxnSpPr/>
            <p:nvPr/>
          </p:nvCxnSpPr>
          <p:spPr>
            <a:xfrm>
              <a:off x="5732549" y="1872987"/>
              <a:ext cx="0" cy="235712"/>
            </a:xfrm>
            <a:prstGeom prst="straightConnector1">
              <a:avLst/>
            </a:prstGeom>
            <a:ln w="12700">
              <a:solidFill>
                <a:srgbClr val="4D4D4D"/>
              </a:solidFill>
              <a:tailEnd type="triangle"/>
            </a:ln>
          </p:spPr>
        </p:cxnSp>
        <p:cxnSp>
          <p:nvCxnSpPr>
            <p:cNvPr id="100035" name="DiagramEdge 100035"/>
            <p:cNvCxnSpPr/>
            <p:nvPr/>
          </p:nvCxnSpPr>
          <p:spPr>
            <a:xfrm>
              <a:off x="5732549" y="2391553"/>
              <a:ext cx="0" cy="235712"/>
            </a:xfrm>
            <a:prstGeom prst="straightConnector1">
              <a:avLst/>
            </a:prstGeom>
            <a:ln w="12700">
              <a:solidFill>
                <a:srgbClr val="4D4D4D"/>
              </a:solidFill>
            </a:ln>
          </p:spPr>
        </p:cxnSp>
        <p:cxnSp>
          <p:nvCxnSpPr>
            <p:cNvPr id="100036" name="DiagramEdge 100036"/>
            <p:cNvCxnSpPr/>
            <p:nvPr/>
          </p:nvCxnSpPr>
          <p:spPr>
            <a:xfrm>
              <a:off x="5732549" y="2627265"/>
              <a:ext cx="97142" cy="0"/>
            </a:xfrm>
            <a:prstGeom prst="straightConnector1">
              <a:avLst/>
            </a:prstGeom>
            <a:ln w="12700">
              <a:solidFill>
                <a:srgbClr val="4D4D4D"/>
              </a:solidFill>
            </a:ln>
          </p:spPr>
        </p:cxnSp>
        <p:cxnSp>
          <p:nvCxnSpPr>
            <p:cNvPr id="100037" name="DiagramEdge 100037"/>
            <p:cNvCxnSpPr/>
            <p:nvPr/>
          </p:nvCxnSpPr>
          <p:spPr>
            <a:xfrm>
              <a:off x="5829691" y="2627265"/>
              <a:ext cx="0" cy="235712"/>
            </a:xfrm>
            <a:prstGeom prst="straightConnector1">
              <a:avLst/>
            </a:prstGeom>
            <a:ln w="12700">
              <a:solidFill>
                <a:srgbClr val="4D4D4D"/>
              </a:solidFill>
              <a:tailEnd type="triangle"/>
            </a:ln>
          </p:spPr>
        </p:cxnSp>
        <p:sp>
          <p:nvSpPr>
            <p:cNvPr id="100038" name="DiagramShape 100038"/>
            <p:cNvSpPr/>
            <p:nvPr/>
          </p:nvSpPr>
          <p:spPr>
            <a:xfrm>
              <a:off x="5690407" y="3384758"/>
              <a:ext cx="278569" cy="111427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lIns="0" tIns="0" rIns="0" bIns="0" anchor="ctr">
              <a:normAutofit/>
            </a:bodyPr>
            <a:lstStyle/>
            <a:p>
              <a:pPr algn="ctr"/>
              <a:r>
                <a:rPr lang="en-US" sz="600"/>
                <a:t>yes</a:t>
              </a:r>
            </a:p>
          </p:txBody>
        </p:sp>
        <p:sp>
          <p:nvSpPr>
            <p:cNvPr id="100039" name="DiagramShape 100039"/>
            <p:cNvSpPr/>
            <p:nvPr/>
          </p:nvSpPr>
          <p:spPr>
            <a:xfrm>
              <a:off x="6171116" y="3384758"/>
              <a:ext cx="214284" cy="111427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lIns="0" tIns="0" rIns="0" bIns="0" anchor="ctr">
              <a:normAutofit/>
            </a:bodyPr>
            <a:lstStyle/>
            <a:p>
              <a:pPr algn="ctr"/>
              <a:r>
                <a:rPr lang="en-US" sz="600"/>
                <a:t>no</a:t>
              </a:r>
            </a:p>
          </p:txBody>
        </p:sp>
      </p:grpSp>
    </p:spTree>
  </p:cSld>
</p:sld>
</file>

<file path=ppt/slides/slide3.xml><?xml version="1.0" encoding="utf-8"?>
<p:sld xmlns:r="http://schemas.openxmlformats.org/officeDocument/2006/relationships"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40" name="TextBox 1"/>
          <p:cNvSpPr txBox="1"/>
          <p:nvPr/>
        </p:nvSpPr>
        <p:spPr>
          <a:xfrm xmlns:a="http://schemas.openxmlformats.org/drawingml/2006/main">
            <a:off x="457200" y="274320"/>
            <a:ext cx="1124712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/>
              <a:t>render=image — the same flowchart as a full-fidelity PNG</a:t>
            </a:r>
          </a:p>
        </p:txBody>
      </p:sp>
      <p:pic>
        <p:nvPicPr>
          <p:cNvPr id="100041" name="Picture 1" descr="mermaid:flowchart TD&#10;  A([Start]) --&gt; B{Decision}&#10;  B --&gt;|yes| C[Process]&#10;  B --&gt;|no| D[(Database)]&#10;  C --&gt; E[[Subroutine]]&#10;  D -.-&gt; F{{Prepare}}&#10;  E ==&gt; G((Done))&#10;  F --&gt; G&#10;  A --&gt; H[/Input/]&#10;  H --x B"/>
          <p:cNvPicPr>
            <a:picLocks noChangeAspect="1"/>
          </p:cNvPicPr>
          <p:nvPr/>
        </p:nvPicPr>
        <p:blipFill>
          <a:blip xmlns:r="http://schemas.openxmlformats.org/officeDocument/2006/relationships" r:embed="Rfb5e1a1e17454bf2"/>
          <a:stretch>
            <a:fillRect/>
          </a:stretch>
        </p:blipFill>
        <p:spPr>
          <a:xfrm>
            <a:off x="4941395" y="1097280"/>
            <a:ext cx="2278729" cy="5303520"/>
          </a:xfrm>
          <a:prstGeom prst="rect">
            <a:avLst/>
          </a:prstGeom>
        </p:spPr>
      </p:pic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42" name="TextBox 1"/>
          <p:cNvSpPr txBox="1"/>
          <p:nvPr/>
        </p:nvSpPr>
        <p:spPr>
          <a:xfrm xmlns:a="http://schemas.openxmlformats.org/drawingml/2006/main">
            <a:off x="457200" y="274320"/>
            <a:ext cx="1124712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/>
              <a:t>render=native — sequenceDiagram</a:t>
            </a:r>
          </a:p>
        </p:txBody>
      </p:sp>
      <p:grpSp>
        <p:nvGrpSpPr>
          <p:cNvPr id="100043" name="Diagram 100043"/>
          <p:cNvGrpSpPr/>
          <p:nvPr/>
        </p:nvGrpSpPr>
        <p:grpSpPr>
          <a:xfrm>
            <a:off x="2163387" y="1097280"/>
            <a:ext cx="7834745" cy="5303520"/>
            <a:chOff x="2163387" y="1097280"/>
            <a:chExt cx="7834745" cy="5303520"/>
          </a:xfrm>
        </p:grpSpPr>
        <p:sp>
          <p:nvSpPr>
            <p:cNvPr id="100044" name="DiagramShape 100044"/>
            <p:cNvSpPr/>
            <p:nvPr/>
          </p:nvSpPr>
          <p:spPr>
            <a:xfrm>
              <a:off x="2645525" y="1579418"/>
              <a:ext cx="1446415" cy="662940"/>
            </a:xfrm>
            <a:prstGeom prst="rect">
              <a:avLst/>
            </a:prstGeom>
            <a:solidFill>
              <a:srgbClr val="DAE8FC"/>
            </a:solidFill>
            <a:ln w="9525">
              <a:solidFill>
                <a:srgbClr val="6C8EBF"/>
              </a:solidFill>
            </a:ln>
          </p:spPr>
          <p:txBody>
            <a:bodyPr wrap="square" lIns="0" tIns="0" rIns="0" bIns="0" anchor="ctr">
              <a:normAutofit/>
            </a:bodyPr>
            <a:lstStyle/>
            <a:p>
              <a:pPr algn="ctr"/>
              <a:r>
                <a:rPr lang="en-US" sz="3000"/>
                <a:t>User</a:t>
              </a:r>
            </a:p>
          </p:txBody>
        </p:sp>
        <p:sp>
          <p:nvSpPr>
            <p:cNvPr id="100045" name="DiagramShape 100045"/>
            <p:cNvSpPr/>
            <p:nvPr/>
          </p:nvSpPr>
          <p:spPr>
            <a:xfrm>
              <a:off x="4935682" y="1579418"/>
              <a:ext cx="1687484" cy="662940"/>
            </a:xfrm>
            <a:prstGeom prst="rect">
              <a:avLst/>
            </a:prstGeom>
            <a:solidFill>
              <a:srgbClr val="DAE8FC"/>
            </a:solidFill>
            <a:ln w="9525">
              <a:solidFill>
                <a:srgbClr val="6C8EBF"/>
              </a:solidFill>
            </a:ln>
          </p:spPr>
          <p:txBody>
            <a:bodyPr wrap="square" lIns="0" tIns="0" rIns="0" bIns="0" anchor="ctr">
              <a:normAutofit/>
            </a:bodyPr>
            <a:lstStyle/>
            <a:p>
              <a:pPr algn="ctr"/>
              <a:r>
                <a:rPr lang="en-US" sz="3000"/>
                <a:t>Server</a:t>
              </a:r>
            </a:p>
          </p:txBody>
        </p:sp>
        <p:sp>
          <p:nvSpPr>
            <p:cNvPr id="100046" name="DiagramShape 100046"/>
            <p:cNvSpPr/>
            <p:nvPr/>
          </p:nvSpPr>
          <p:spPr>
            <a:xfrm>
              <a:off x="7466907" y="1579418"/>
              <a:ext cx="2049087" cy="662940"/>
            </a:xfrm>
            <a:prstGeom prst="rect">
              <a:avLst/>
            </a:prstGeom>
            <a:solidFill>
              <a:srgbClr val="DAE8FC"/>
            </a:solidFill>
            <a:ln w="9525">
              <a:solidFill>
                <a:srgbClr val="6C8EBF"/>
              </a:solidFill>
            </a:ln>
          </p:spPr>
          <p:txBody>
            <a:bodyPr wrap="square" lIns="0" tIns="0" rIns="0" bIns="0" anchor="ctr">
              <a:normAutofit/>
            </a:bodyPr>
            <a:lstStyle/>
            <a:p>
              <a:pPr algn="ctr"/>
              <a:r>
                <a:rPr lang="en-US" sz="3000"/>
                <a:t>Database</a:t>
              </a:r>
            </a:p>
          </p:txBody>
        </p:sp>
        <p:cxnSp>
          <p:nvCxnSpPr>
            <p:cNvPr id="100047" name="DiagramEdge 100047"/>
            <p:cNvCxnSpPr/>
            <p:nvPr/>
          </p:nvCxnSpPr>
          <p:spPr>
            <a:xfrm>
              <a:off x="3368733" y="2242358"/>
              <a:ext cx="0" cy="3676304"/>
            </a:xfrm>
            <a:prstGeom prst="straightConnector1">
              <a:avLst/>
            </a:prstGeom>
            <a:ln w="12700">
              <a:solidFill>
                <a:srgbClr val="4D4D4D"/>
              </a:solidFill>
              <a:prstDash val="dash"/>
            </a:ln>
          </p:spPr>
        </p:cxnSp>
        <p:cxnSp>
          <p:nvCxnSpPr>
            <p:cNvPr id="100048" name="DiagramEdge 100048"/>
            <p:cNvCxnSpPr/>
            <p:nvPr/>
          </p:nvCxnSpPr>
          <p:spPr>
            <a:xfrm>
              <a:off x="5779424" y="2242358"/>
              <a:ext cx="0" cy="3676304"/>
            </a:xfrm>
            <a:prstGeom prst="straightConnector1">
              <a:avLst/>
            </a:prstGeom>
            <a:ln w="12700">
              <a:solidFill>
                <a:srgbClr val="4D4D4D"/>
              </a:solidFill>
              <a:prstDash val="dash"/>
            </a:ln>
          </p:spPr>
        </p:cxnSp>
        <p:cxnSp>
          <p:nvCxnSpPr>
            <p:cNvPr id="100049" name="DiagramEdge 100049"/>
            <p:cNvCxnSpPr/>
            <p:nvPr/>
          </p:nvCxnSpPr>
          <p:spPr>
            <a:xfrm>
              <a:off x="8491451" y="2242358"/>
              <a:ext cx="0" cy="3676304"/>
            </a:xfrm>
            <a:prstGeom prst="straightConnector1">
              <a:avLst/>
            </a:prstGeom>
            <a:ln w="12700">
              <a:solidFill>
                <a:srgbClr val="4D4D4D"/>
              </a:solidFill>
              <a:prstDash val="dash"/>
            </a:ln>
          </p:spPr>
        </p:cxnSp>
        <p:cxnSp>
          <p:nvCxnSpPr>
            <p:cNvPr id="100050" name="DiagramEdge 100050"/>
            <p:cNvCxnSpPr/>
            <p:nvPr/>
          </p:nvCxnSpPr>
          <p:spPr>
            <a:xfrm>
              <a:off x="3368733" y="2784764"/>
              <a:ext cx="2410691" cy="0"/>
            </a:xfrm>
            <a:prstGeom prst="straightConnector1">
              <a:avLst/>
            </a:prstGeom>
            <a:ln w="12700">
              <a:solidFill>
                <a:srgbClr val="4D4D4D"/>
              </a:solidFill>
              <a:tailEnd type="triangle"/>
            </a:ln>
          </p:spPr>
        </p:cxnSp>
        <p:cxnSp>
          <p:nvCxnSpPr>
            <p:cNvPr id="100051" name="DiagramEdge 100051"/>
            <p:cNvCxnSpPr/>
            <p:nvPr/>
          </p:nvCxnSpPr>
          <p:spPr>
            <a:xfrm>
              <a:off x="5779424" y="3477837"/>
              <a:ext cx="2712027" cy="0"/>
            </a:xfrm>
            <a:prstGeom prst="straightConnector1">
              <a:avLst/>
            </a:prstGeom>
            <a:ln w="12700">
              <a:solidFill>
                <a:srgbClr val="4D4D4D"/>
              </a:solidFill>
              <a:tailEnd type="triangle"/>
            </a:ln>
          </p:spPr>
        </p:cxnSp>
        <p:cxnSp>
          <p:nvCxnSpPr>
            <p:cNvPr id="100052" name="DiagramEdge 100052"/>
            <p:cNvCxnSpPr/>
            <p:nvPr/>
          </p:nvCxnSpPr>
          <p:spPr>
            <a:xfrm flipH="1">
              <a:off x="5779424" y="4170911"/>
              <a:ext cx="2712027" cy="0"/>
            </a:xfrm>
            <a:prstGeom prst="straightConnector1">
              <a:avLst/>
            </a:prstGeom>
            <a:ln w="12700">
              <a:solidFill>
                <a:srgbClr val="4D4D4D"/>
              </a:solidFill>
              <a:prstDash val="dash"/>
              <a:tailEnd type="triangle"/>
            </a:ln>
          </p:spPr>
        </p:cxnSp>
        <p:cxnSp>
          <p:nvCxnSpPr>
            <p:cNvPr id="100053" name="DiagramEdge 100053"/>
            <p:cNvCxnSpPr/>
            <p:nvPr/>
          </p:nvCxnSpPr>
          <p:spPr>
            <a:xfrm flipH="1">
              <a:off x="3368733" y="4863985"/>
              <a:ext cx="2410691" cy="0"/>
            </a:xfrm>
            <a:prstGeom prst="straightConnector1">
              <a:avLst/>
            </a:prstGeom>
            <a:ln w="12700">
              <a:solidFill>
                <a:srgbClr val="4D4D4D"/>
              </a:solidFill>
              <a:prstDash val="dash"/>
              <a:tailEnd type="triangle"/>
            </a:ln>
          </p:spPr>
        </p:cxnSp>
        <p:sp>
          <p:nvSpPr>
            <p:cNvPr id="100054" name="DiagramShape 100054"/>
            <p:cNvSpPr/>
            <p:nvPr/>
          </p:nvSpPr>
          <p:spPr>
            <a:xfrm>
              <a:off x="3278332" y="2326732"/>
              <a:ext cx="2591493" cy="313390"/>
            </a:xfrm>
            <a:prstGeom prst="rect">
              <a:avLst/>
            </a:prstGeom>
          </p:spPr>
          <p:txBody>
            <a:bodyPr wrap="square" lIns="0" tIns="0" rIns="0" bIns="0" anchor="ctr">
              <a:normAutofit/>
            </a:bodyPr>
            <a:lstStyle/>
            <a:p>
              <a:pPr algn="ctr"/>
              <a:r>
                <a:rPr lang="en-US" sz="1700"/>
                <a:t>Login request</a:t>
              </a:r>
            </a:p>
          </p:txBody>
        </p:sp>
        <p:sp>
          <p:nvSpPr>
            <p:cNvPr id="100055" name="DiagramShape 100055"/>
            <p:cNvSpPr/>
            <p:nvPr/>
          </p:nvSpPr>
          <p:spPr>
            <a:xfrm>
              <a:off x="5508221" y="3019806"/>
              <a:ext cx="3254433" cy="313390"/>
            </a:xfrm>
            <a:prstGeom prst="rect">
              <a:avLst/>
            </a:prstGeom>
          </p:spPr>
          <p:txBody>
            <a:bodyPr wrap="square" lIns="0" tIns="0" rIns="0" bIns="0" anchor="ctr">
              <a:normAutofit/>
            </a:bodyPr>
            <a:lstStyle/>
            <a:p>
              <a:pPr algn="ctr"/>
              <a:r>
                <a:rPr lang="en-US" sz="1700"/>
                <a:t>Validate credentials</a:t>
              </a:r>
            </a:p>
          </p:txBody>
        </p:sp>
        <p:sp>
          <p:nvSpPr>
            <p:cNvPr id="100056" name="DiagramShape 100056"/>
            <p:cNvSpPr/>
            <p:nvPr/>
          </p:nvSpPr>
          <p:spPr>
            <a:xfrm>
              <a:off x="6834101" y="3712880"/>
              <a:ext cx="602673" cy="313390"/>
            </a:xfrm>
            <a:prstGeom prst="rect">
              <a:avLst/>
            </a:prstGeom>
          </p:spPr>
          <p:txBody>
            <a:bodyPr wrap="square" lIns="0" tIns="0" rIns="0" bIns="0" anchor="ctr">
              <a:normAutofit/>
            </a:bodyPr>
            <a:lstStyle/>
            <a:p>
              <a:pPr algn="ctr"/>
              <a:r>
                <a:rPr lang="en-US" sz="1700"/>
                <a:t>OK</a:t>
              </a:r>
            </a:p>
          </p:txBody>
        </p:sp>
        <p:sp>
          <p:nvSpPr>
            <p:cNvPr id="100057" name="DiagramShape 100057"/>
            <p:cNvSpPr/>
            <p:nvPr/>
          </p:nvSpPr>
          <p:spPr>
            <a:xfrm>
              <a:off x="3278332" y="4405953"/>
              <a:ext cx="2591493" cy="313390"/>
            </a:xfrm>
            <a:prstGeom prst="rect">
              <a:avLst/>
            </a:prstGeom>
          </p:spPr>
          <p:txBody>
            <a:bodyPr wrap="square" lIns="0" tIns="0" rIns="0" bIns="0" anchor="ctr">
              <a:normAutofit/>
            </a:bodyPr>
            <a:lstStyle/>
            <a:p>
              <a:pPr algn="ctr"/>
              <a:r>
                <a:rPr lang="en-US" sz="1700"/>
                <a:t>Session token</a:t>
              </a:r>
            </a:p>
          </p:txBody>
        </p:sp>
      </p:grpSp>
    </p:spTree>
  </p:cSld>
</p:sld>
</file>

<file path=ppt/slides/slide5.xml><?xml version="1.0" encoding="utf-8"?>
<p:sld xmlns:r="http://schemas.openxmlformats.org/officeDocument/2006/relationships"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58" name="TextBox 1"/>
          <p:cNvSpPr txBox="1"/>
          <p:nvPr/>
        </p:nvSpPr>
        <p:spPr>
          <a:xfrm xmlns:a="http://schemas.openxmlformats.org/drawingml/2006/main">
            <a:off x="457200" y="274320"/>
            <a:ext cx="1124712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/>
              <a:t>render=image — pie — proportions</a:t>
            </a:r>
          </a:p>
        </p:txBody>
      </p:sp>
      <p:pic>
        <p:nvPicPr>
          <p:cNvPr id="100059" name="Picture 1" descr="mermaid:pie showData title Traffic Sources&#10;    &quot;Organic Search&quot; : 45&#10;    &quot;Direct&quot; : 30&#10;    &quot;Referral&quot; : 15&#10;    &quot;Social&quot; : 10&#10;"/>
          <p:cNvPicPr>
            <a:picLocks noChangeAspect="1"/>
          </p:cNvPicPr>
          <p:nvPr/>
        </p:nvPicPr>
        <p:blipFill>
          <a:blip xmlns:r="http://schemas.openxmlformats.org/officeDocument/2006/relationships" r:embed="Rd039ca5b6bbf4bec"/>
          <a:stretch>
            <a:fillRect/>
          </a:stretch>
        </p:blipFill>
        <p:spPr>
          <a:xfrm>
            <a:off x="2448871" y="1097280"/>
            <a:ext cx="7263777" cy="5303520"/>
          </a:xfrm>
          <a:prstGeom prst="rect">
            <a:avLst/>
          </a:prstGeom>
        </p:spPr>
      </p:pic>
    </p:spTree>
  </p:cSld>
</p:sld>
</file>

<file path=ppt/slides/slide6.xml><?xml version="1.0" encoding="utf-8"?>
<p:sld xmlns:r="http://schemas.openxmlformats.org/officeDocument/2006/relationships"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60" name="TextBox 1"/>
          <p:cNvSpPr txBox="1"/>
          <p:nvPr/>
        </p:nvSpPr>
        <p:spPr>
          <a:xfrm xmlns:a="http://schemas.openxmlformats.org/drawingml/2006/main">
            <a:off x="457200" y="274320"/>
            <a:ext cx="1124712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/>
              <a:t>render=image — classDiagram — UML classes</a:t>
            </a:r>
          </a:p>
        </p:txBody>
      </p:sp>
      <p:pic>
        <p:nvPicPr>
          <p:cNvPr id="100061" name="Picture 1" descr="mermaid:classDiagram&#10;  class Animal { +int age +run() }&#10;  class Dog { +bark() }&#10;  Animal &lt;|-- Dog"/>
          <p:cNvPicPr>
            <a:picLocks noChangeAspect="1"/>
          </p:cNvPicPr>
          <p:nvPr/>
        </p:nvPicPr>
        <p:blipFill>
          <a:blip xmlns:r="http://schemas.openxmlformats.org/officeDocument/2006/relationships" r:embed="Rb1bcb7ade1ef4c53"/>
          <a:stretch>
            <a:fillRect/>
          </a:stretch>
        </p:blipFill>
        <p:spPr>
          <a:xfrm>
            <a:off x="4587148" y="1097280"/>
            <a:ext cx="2987223" cy="5303520"/>
          </a:xfrm>
          <a:prstGeom prst="rect">
            <a:avLst/>
          </a:prstGeom>
        </p:spPr>
      </p:pic>
    </p:spTree>
  </p:cSld>
</p:sld>
</file>

<file path=ppt/slides/slide7.xml><?xml version="1.0" encoding="utf-8"?>
<p:sld xmlns:r="http://schemas.openxmlformats.org/officeDocument/2006/relationships"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62" name="TextBox 1"/>
          <p:cNvSpPr txBox="1"/>
          <p:nvPr/>
        </p:nvSpPr>
        <p:spPr>
          <a:xfrm xmlns:a="http://schemas.openxmlformats.org/drawingml/2006/main">
            <a:off x="457200" y="274320"/>
            <a:ext cx="1124712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/>
              <a:t>render=image — stateDiagram-v2 — states</a:t>
            </a:r>
          </a:p>
        </p:txBody>
      </p:sp>
      <p:pic>
        <p:nvPicPr>
          <p:cNvPr id="100063" name="Picture 1" descr="mermaid:stateDiagram-v2&#10;  [*] --&gt; Idle&#10;  Idle --&gt; Running: start&#10;  Running --&gt; Idle: pause&#10;  Running --&gt; [*]: stop"/>
          <p:cNvPicPr>
            <a:picLocks noChangeAspect="1"/>
          </p:cNvPicPr>
          <p:nvPr/>
        </p:nvPicPr>
        <p:blipFill>
          <a:blip xmlns:r="http://schemas.openxmlformats.org/officeDocument/2006/relationships" r:embed="R16cdee46042143d0"/>
          <a:stretch>
            <a:fillRect/>
          </a:stretch>
        </p:blipFill>
        <p:spPr>
          <a:xfrm>
            <a:off x="5086350" y="1097280"/>
            <a:ext cx="1988820" cy="5303520"/>
          </a:xfrm>
          <a:prstGeom prst="rect">
            <a:avLst/>
          </a:prstGeom>
        </p:spPr>
      </p:pic>
    </p:spTree>
  </p:cSld>
</p:sld>
</file>

<file path=ppt/slides/slide8.xml><?xml version="1.0" encoding="utf-8"?>
<p:sld xmlns:r="http://schemas.openxmlformats.org/officeDocument/2006/relationships"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64" name="TextBox 1"/>
          <p:cNvSpPr txBox="1"/>
          <p:nvPr/>
        </p:nvSpPr>
        <p:spPr>
          <a:xfrm xmlns:a="http://schemas.openxmlformats.org/drawingml/2006/main">
            <a:off x="457200" y="274320"/>
            <a:ext cx="1124712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/>
              <a:t>render=image — erDiagram — entities &amp; relations</a:t>
            </a:r>
          </a:p>
        </p:txBody>
      </p:sp>
      <p:pic>
        <p:nvPicPr>
          <p:cNvPr id="100065" name="Picture 1" descr="mermaid:erDiagram&#10;  CUSTOMER ||--o{ ORDER : places&#10;  ORDER ||--|{ LINE_ITEM : contains"/>
          <p:cNvPicPr>
            <a:picLocks noChangeAspect="1"/>
          </p:cNvPicPr>
          <p:nvPr/>
        </p:nvPicPr>
        <p:blipFill>
          <a:blip xmlns:r="http://schemas.openxmlformats.org/officeDocument/2006/relationships" r:embed="R1f1caf4941f142d2"/>
          <a:stretch>
            <a:fillRect/>
          </a:stretch>
        </p:blipFill>
        <p:spPr>
          <a:xfrm>
            <a:off x="5275370" y="1097280"/>
            <a:ext cx="1610779" cy="5303520"/>
          </a:xfrm>
          <a:prstGeom prst="rect">
            <a:avLst/>
          </a:prstGeom>
        </p:spPr>
      </p:pic>
    </p:spTree>
  </p:cSld>
</p:sld>
</file>

<file path=ppt/slides/slide9.xml><?xml version="1.0" encoding="utf-8"?>
<p:sld xmlns:r="http://schemas.openxmlformats.org/officeDocument/2006/relationships"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66" name="TextBox 1"/>
          <p:cNvSpPr txBox="1"/>
          <p:nvPr/>
        </p:nvSpPr>
        <p:spPr>
          <a:xfrm xmlns:a="http://schemas.openxmlformats.org/drawingml/2006/main">
            <a:off x="457200" y="274320"/>
            <a:ext cx="1124712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/>
              <a:t>render=image — gantt — project schedule</a:t>
            </a:r>
          </a:p>
        </p:txBody>
      </p:sp>
      <p:pic>
        <p:nvPicPr>
          <p:cNvPr id="100067" name="Picture 1" descr="mermaid:gantt&#10;  title Project Plan&#10;  dateFormat YYYY-MM-DD&#10;  todayMarker off&#10;  section Design&#10;  Research :a1, 2024-01-01, 5d&#10;  Draft :after a1, 4d&#10;  section Build&#10;  Code :2024-01-12, 6d"/>
          <p:cNvPicPr>
            <a:picLocks noChangeAspect="1"/>
          </p:cNvPicPr>
          <p:nvPr/>
        </p:nvPicPr>
        <p:blipFill>
          <a:blip xmlns:r="http://schemas.openxmlformats.org/officeDocument/2006/relationships" r:embed="R9a4c83a50a7a4564"/>
          <a:stretch>
            <a:fillRect/>
          </a:stretch>
        </p:blipFill>
        <p:spPr>
          <a:xfrm>
            <a:off x="1194183" y="1097280"/>
            <a:ext cx="9773153" cy="5303520"/>
          </a:xfrm>
          <a:prstGeom prst="rect">
            <a:avLst/>
          </a:prstGeom>
        </p:spPr>
      </p:pic>
    </p:spTree>
  </p:cSld>
</p:sld>
</file>

<file path=ppt/slides/slide10.xml><?xml version="1.0" encoding="utf-8"?>
<p:sld xmlns:r="http://schemas.openxmlformats.org/officeDocument/2006/relationships"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68" name="TextBox 1"/>
          <p:cNvSpPr txBox="1"/>
          <p:nvPr/>
        </p:nvSpPr>
        <p:spPr>
          <a:xfrm xmlns:a="http://schemas.openxmlformats.org/drawingml/2006/main">
            <a:off x="457200" y="274320"/>
            <a:ext cx="1124712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/>
              <a:t>render=image — journey — user journey</a:t>
            </a:r>
          </a:p>
        </p:txBody>
      </p:sp>
      <p:pic>
        <p:nvPicPr>
          <p:cNvPr id="100069" name="Picture 1" descr="mermaid:journey&#10;  title My working day&#10;  section Morning&#10;  Standup: 3: Me, Team&#10;  Code: 5: Me&#10;  section Afternoon&#10;  Review: 2: Me"/>
          <p:cNvPicPr>
            <a:picLocks noChangeAspect="1"/>
          </p:cNvPicPr>
          <p:nvPr/>
        </p:nvPicPr>
        <p:blipFill>
          <a:blip xmlns:r="http://schemas.openxmlformats.org/officeDocument/2006/relationships" r:embed="Rec3c569b1fa34d20"/>
          <a:stretch>
            <a:fillRect/>
          </a:stretch>
        </p:blipFill>
        <p:spPr>
          <a:xfrm>
            <a:off x="1917606" y="1097280"/>
            <a:ext cx="8326308" cy="5303520"/>
          </a:xfrm>
          <a:prstGeom prst="rect">
            <a:avLst/>
          </a:prstGeom>
        </p:spPr>
      </p:pic>
    </p:spTree>
  </p:cSld>
</p:sld>
</file>

<file path=ppt/slides/slide11.xml><?xml version="1.0" encoding="utf-8"?>
<p:sld xmlns:r="http://schemas.openxmlformats.org/officeDocument/2006/relationships"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70" name="TextBox 1"/>
          <p:cNvSpPr txBox="1"/>
          <p:nvPr/>
        </p:nvSpPr>
        <p:spPr>
          <a:xfrm xmlns:a="http://schemas.openxmlformats.org/drawingml/2006/main">
            <a:off x="457200" y="274320"/>
            <a:ext cx="1124712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/>
              <a:t>render=image — gitGraph — branch/merge</a:t>
            </a:r>
          </a:p>
        </p:txBody>
      </p:sp>
      <p:pic>
        <p:nvPicPr>
          <p:cNvPr id="100071" name="Picture 1" descr="mermaid:gitGraph&#10;  commit&#10;  branch develop&#10;  commit&#10;  checkout main&#10;  merge develop&#10;  commit"/>
          <p:cNvPicPr>
            <a:picLocks noChangeAspect="1"/>
          </p:cNvPicPr>
          <p:nvPr/>
        </p:nvPicPr>
        <p:blipFill>
          <a:blip xmlns:r="http://schemas.openxmlformats.org/officeDocument/2006/relationships" r:embed="R64676035f54842f6"/>
          <a:stretch>
            <a:fillRect/>
          </a:stretch>
        </p:blipFill>
        <p:spPr>
          <a:xfrm>
            <a:off x="1233457" y="1097280"/>
            <a:ext cx="9694606" cy="5303520"/>
          </a:xfrm>
          <a:prstGeom prst="rect">
            <a:avLst/>
          </a:prstGeom>
        </p:spPr>
      </p:pic>
    </p:spTree>
  </p:cSld>
</p:sld>
</file>

<file path=ppt/slides/slide12.xml><?xml version="1.0" encoding="utf-8"?>
<p:sld xmlns:r="http://schemas.openxmlformats.org/officeDocument/2006/relationships"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72" name="TextBox 1"/>
          <p:cNvSpPr txBox="1"/>
          <p:nvPr/>
        </p:nvSpPr>
        <p:spPr>
          <a:xfrm xmlns:a="http://schemas.openxmlformats.org/drawingml/2006/main">
            <a:off x="457200" y="274320"/>
            <a:ext cx="1124712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/>
              <a:t>render=image — mindmap — hierarchy</a:t>
            </a:r>
          </a:p>
        </p:txBody>
      </p:sp>
      <p:pic>
        <p:nvPicPr>
          <p:cNvPr id="100073" name="Picture 1" descr="mermaid:mindmap&#10;  root((mermaid))&#10;    Origins&#10;      History&#10;    Uses&#10;      Docs&#10;      Diagrams"/>
          <p:cNvPicPr>
            <a:picLocks noChangeAspect="1"/>
          </p:cNvPicPr>
          <p:nvPr/>
        </p:nvPicPr>
        <p:blipFill>
          <a:blip xmlns:r="http://schemas.openxmlformats.org/officeDocument/2006/relationships" r:embed="Raa9bf3b456a1495b"/>
          <a:stretch>
            <a:fillRect/>
          </a:stretch>
        </p:blipFill>
        <p:spPr>
          <a:xfrm>
            <a:off x="914400" y="1448395"/>
            <a:ext cx="10332720" cy="4601289"/>
          </a:xfrm>
          <a:prstGeom prst="rect">
            <a:avLst/>
          </a:prstGeom>
        </p:spPr>
      </p:pic>
    </p:spTree>
  </p:cSld>
</p:sld>
</file>

<file path=ppt/slides/slide13.xml><?xml version="1.0" encoding="utf-8"?>
<p:sld xmlns:r="http://schemas.openxmlformats.org/officeDocument/2006/relationships"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74" name="TextBox 1"/>
          <p:cNvSpPr txBox="1"/>
          <p:nvPr/>
        </p:nvSpPr>
        <p:spPr>
          <a:xfrm xmlns:a="http://schemas.openxmlformats.org/drawingml/2006/main">
            <a:off x="457200" y="274320"/>
            <a:ext cx="1124712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/>
              <a:t>render=image — timeline — events</a:t>
            </a:r>
          </a:p>
        </p:txBody>
      </p:sp>
      <p:pic>
        <p:nvPicPr>
          <p:cNvPr id="100075" name="Picture 1" descr="mermaid:timeline&#10;  title Release History&#10;  2019 : v1&#10;  2021 : v2 : v2.1&#10;  2023 : v3"/>
          <p:cNvPicPr>
            <a:picLocks noChangeAspect="1"/>
          </p:cNvPicPr>
          <p:nvPr/>
        </p:nvPicPr>
        <p:blipFill>
          <a:blip xmlns:r="http://schemas.openxmlformats.org/officeDocument/2006/relationships" r:embed="R85cd31c515a74223"/>
          <a:stretch>
            <a:fillRect/>
          </a:stretch>
        </p:blipFill>
        <p:spPr>
          <a:xfrm>
            <a:off x="914400" y="1157482"/>
            <a:ext cx="10332720" cy="5183115"/>
          </a:xfrm>
          <a:prstGeom prst="rect">
            <a:avLst/>
          </a:prstGeom>
        </p:spPr>
      </p:pic>
    </p:spTree>
  </p:cSld>
</p:sld>
</file>

<file path=ppt/slides/slide14.xml><?xml version="1.0" encoding="utf-8"?>
<p:sld xmlns:r="http://schemas.openxmlformats.org/officeDocument/2006/relationships"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76" name="TextBox 1"/>
          <p:cNvSpPr txBox="1"/>
          <p:nvPr/>
        </p:nvSpPr>
        <p:spPr>
          <a:xfrm xmlns:a="http://schemas.openxmlformats.org/drawingml/2006/main">
            <a:off x="457200" y="274320"/>
            <a:ext cx="1124712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/>
              <a:t>render=image — quadrantChart — 2x2 matrix</a:t>
            </a:r>
          </a:p>
        </p:txBody>
      </p:sp>
      <p:pic>
        <p:nvPicPr>
          <p:cNvPr id="100077" name="Picture 1" descr="mermaid:quadrantChart&#10;  title Reach vs Engagement&#10;  x-axis Low Reach --&gt; High Reach&#10;  y-axis Low Engagement --&gt; High Engagement&#10;  quadrant-1 Expand&#10;  quadrant-2 Promote&#10;  quadrant-3 Re-evaluate&#10;  quadrant-4 Improve&#10;  Campaign A: [0.3, 0.6]&#10;  Campaign B: [0.45, 0.23]"/>
          <p:cNvPicPr>
            <a:picLocks noChangeAspect="1"/>
          </p:cNvPicPr>
          <p:nvPr/>
        </p:nvPicPr>
        <p:blipFill>
          <a:blip xmlns:r="http://schemas.openxmlformats.org/officeDocument/2006/relationships" r:embed="Re2eb421df50b4dc0"/>
          <a:stretch>
            <a:fillRect/>
          </a:stretch>
        </p:blipFill>
        <p:spPr>
          <a:xfrm>
            <a:off x="3403453" y="1097280"/>
            <a:ext cx="5354613" cy="5303520"/>
          </a:xfrm>
          <a:prstGeom prst="rect">
            <a:avLst/>
          </a:prstGeom>
        </p:spPr>
      </p:pic>
    </p:spTree>
  </p:cSld>
</p:sld>
</file>

<file path=ppt/slides/slide15.xml><?xml version="1.0" encoding="utf-8"?>
<p:sld xmlns:r="http://schemas.openxmlformats.org/officeDocument/2006/relationships"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78" name="TextBox 1"/>
          <p:cNvSpPr txBox="1"/>
          <p:nvPr/>
        </p:nvSpPr>
        <p:spPr>
          <a:xfrm xmlns:a="http://schemas.openxmlformats.org/drawingml/2006/main">
            <a:off x="457200" y="274320"/>
            <a:ext cx="1124712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/>
              <a:t>render=image — requirementDiagram — requirements</a:t>
            </a:r>
          </a:p>
        </p:txBody>
      </p:sp>
      <p:pic>
        <p:nvPicPr>
          <p:cNvPr id="100079" name="Picture 1" descr="mermaid:requirementDiagram&#10;  requirement test_req {&#10;    id: 1&#10;    text: the test text&#10;    risk: high&#10;    verifymethod: test&#10;  }&#10;  element test_entity {&#10;    type: simulation&#10;  }&#10;  test_entity - satisfies -&gt; test_req"/>
          <p:cNvPicPr>
            <a:picLocks noChangeAspect="1"/>
          </p:cNvPicPr>
          <p:nvPr/>
        </p:nvPicPr>
        <p:blipFill>
          <a:blip xmlns:r="http://schemas.openxmlformats.org/officeDocument/2006/relationships" r:embed="R80fa5a4bbe1e4f2f"/>
          <a:stretch>
            <a:fillRect/>
          </a:stretch>
        </p:blipFill>
        <p:spPr>
          <a:xfrm>
            <a:off x="4874209" y="1097280"/>
            <a:ext cx="2413101" cy="5303520"/>
          </a:xfrm>
          <a:prstGeom prst="rect">
            <a:avLst/>
          </a:prstGeom>
        </p:spPr>
      </p:pic>
    </p:spTree>
  </p:cSld>
</p:sld>
</file>

<file path=ppt/slides/slide16.xml><?xml version="1.0" encoding="utf-8"?>
<p:sld xmlns:r="http://schemas.openxmlformats.org/officeDocument/2006/relationships"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80" name="TextBox 1"/>
          <p:cNvSpPr txBox="1"/>
          <p:nvPr/>
        </p:nvSpPr>
        <p:spPr>
          <a:xfrm xmlns:a="http://schemas.openxmlformats.org/drawingml/2006/main">
            <a:off x="457200" y="274320"/>
            <a:ext cx="1124712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/>
              <a:t>render=image — C4Context — system context</a:t>
            </a:r>
          </a:p>
        </p:txBody>
      </p:sp>
      <p:pic>
        <p:nvPicPr>
          <p:cNvPr id="100081" name="Picture 1" descr="mermaid:C4Context&#10;  title System Context&#10;  Person(customer, &quot;Customer&quot;)&#10;  System(banking, &quot;Internet Banking&quot;)&#10;  Rel(customer, banking, &quot;Uses&quot;)"/>
          <p:cNvPicPr>
            <a:picLocks noChangeAspect="1"/>
          </p:cNvPicPr>
          <p:nvPr/>
        </p:nvPicPr>
        <p:blipFill>
          <a:blip xmlns:r="http://schemas.openxmlformats.org/officeDocument/2006/relationships" r:embed="R3680db75df8245de"/>
          <a:stretch>
            <a:fillRect/>
          </a:stretch>
        </p:blipFill>
        <p:spPr>
          <a:xfrm>
            <a:off x="1028932" y="1097280"/>
            <a:ext cx="10103655" cy="5303520"/>
          </a:xfrm>
          <a:prstGeom prst="rect">
            <a:avLst/>
          </a:prstGeom>
        </p:spPr>
      </p:pic>
    </p:spTree>
  </p:cSld>
</p:sld>
</file>

<file path=ppt/slides/slide17.xml><?xml version="1.0" encoding="utf-8"?>
<p:sld xmlns:r="http://schemas.openxmlformats.org/officeDocument/2006/relationships"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82" name="TextBox 1"/>
          <p:cNvSpPr txBox="1"/>
          <p:nvPr/>
        </p:nvSpPr>
        <p:spPr>
          <a:xfrm xmlns:a="http://schemas.openxmlformats.org/drawingml/2006/main">
            <a:off x="457200" y="274320"/>
            <a:ext cx="1124712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/>
              <a:t>render=image — sankey-beta — flow volumes</a:t>
            </a:r>
          </a:p>
        </p:txBody>
      </p:sp>
      <p:pic>
        <p:nvPicPr>
          <p:cNvPr id="100083" name="Picture 1" descr="mermaid:sankey-beta&#10;Agricultural,Bio-conversion,124&#10;Bio-conversion,Losses,26&#10;Bio-conversion,Solid,280&#10;Bio-conversion,Gas,81"/>
          <p:cNvPicPr>
            <a:picLocks noChangeAspect="1"/>
          </p:cNvPicPr>
          <p:nvPr/>
        </p:nvPicPr>
        <p:blipFill>
          <a:blip xmlns:r="http://schemas.openxmlformats.org/officeDocument/2006/relationships" r:embed="Rc54419ff60c54333"/>
          <a:stretch>
            <a:fillRect/>
          </a:stretch>
        </p:blipFill>
        <p:spPr>
          <a:xfrm>
            <a:off x="2222541" y="1097280"/>
            <a:ext cx="7716437" cy="5303520"/>
          </a:xfrm>
          <a:prstGeom prst="rect">
            <a:avLst/>
          </a:prstGeom>
        </p:spPr>
      </p:pic>
    </p:spTree>
  </p:cSld>
</p:sld>
</file>

<file path=ppt/slides/slide18.xml><?xml version="1.0" encoding="utf-8"?>
<p:sld xmlns:r="http://schemas.openxmlformats.org/officeDocument/2006/relationships"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84" name="TextBox 1"/>
          <p:cNvSpPr txBox="1"/>
          <p:nvPr/>
        </p:nvSpPr>
        <p:spPr>
          <a:xfrm xmlns:a="http://schemas.openxmlformats.org/drawingml/2006/main">
            <a:off x="457200" y="274320"/>
            <a:ext cx="1124712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/>
              <a:t>render=image — xychart-beta — bar/line</a:t>
            </a:r>
          </a:p>
        </p:txBody>
      </p:sp>
      <p:pic>
        <p:nvPicPr>
          <p:cNvPr id="100085" name="Picture 1" descr="mermaid:xychart-beta&#10;  title &quot;Monthly Revenue&quot;&#10;  x-axis [jan, feb, mar, apr]&#10;  y-axis &quot;Revenue (k$)&quot; 0 --&gt; 100&#10;  bar [30, 50, 65, 80]&#10;  line [30, 50, 65, 80]"/>
          <p:cNvPicPr>
            <a:picLocks noChangeAspect="1"/>
          </p:cNvPicPr>
          <p:nvPr/>
        </p:nvPicPr>
        <p:blipFill>
          <a:blip xmlns:r="http://schemas.openxmlformats.org/officeDocument/2006/relationships" r:embed="Rccb5fbd885a34e4d"/>
          <a:stretch>
            <a:fillRect/>
          </a:stretch>
        </p:blipFill>
        <p:spPr>
          <a:xfrm>
            <a:off x="2462471" y="1097280"/>
            <a:ext cx="7236578" cy="5303520"/>
          </a:xfrm>
          <a:prstGeom prst="rect">
            <a:avLst/>
          </a:prstGeom>
        </p:spPr>
      </p:pic>
    </p:spTree>
  </p:cSld>
</p:sld>
</file>

<file path=ppt/slides/slide19.xml><?xml version="1.0" encoding="utf-8"?>
<p:sld xmlns:r="http://schemas.openxmlformats.org/officeDocument/2006/relationships"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86" name="TextBox 1"/>
          <p:cNvSpPr txBox="1"/>
          <p:nvPr/>
        </p:nvSpPr>
        <p:spPr>
          <a:xfrm xmlns:a="http://schemas.openxmlformats.org/drawingml/2006/main">
            <a:off x="457200" y="274320"/>
            <a:ext cx="1124712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/>
              <a:t>render=image — block-beta — block layout</a:t>
            </a:r>
          </a:p>
        </p:txBody>
      </p:sp>
      <p:pic>
        <p:nvPicPr>
          <p:cNvPr id="100087" name="Picture 1" descr="mermaid:block-beta&#10;  columns 3&#10;  a[&quot;Ingest&quot;] b[&quot;Process&quot;] c[&quot;Store&quot;]&#10;  d[&quot;Log&quot;]"/>
          <p:cNvPicPr>
            <a:picLocks noChangeAspect="1"/>
          </p:cNvPicPr>
          <p:nvPr/>
        </p:nvPicPr>
        <p:blipFill>
          <a:blip xmlns:r="http://schemas.openxmlformats.org/officeDocument/2006/relationships" r:embed="R235b8554f3d947e3"/>
          <a:stretch>
            <a:fillRect/>
          </a:stretch>
        </p:blipFill>
        <p:spPr>
          <a:xfrm>
            <a:off x="914400" y="1437774"/>
            <a:ext cx="10332720" cy="4622532"/>
          </a:xfrm>
          <a:prstGeom prst="rect">
            <a:avLst/>
          </a:prstGeom>
        </p:spPr>
      </p:pic>
    </p:spTree>
  </p:cSld>
</p:sld>
</file>

<file path=ppt/slides/slide20.xml><?xml version="1.0" encoding="utf-8"?>
<p:sld xmlns:r="http://schemas.openxmlformats.org/officeDocument/2006/relationships"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88" name="TextBox 1"/>
          <p:cNvSpPr txBox="1"/>
          <p:nvPr/>
        </p:nvSpPr>
        <p:spPr>
          <a:xfrm xmlns:a="http://schemas.openxmlformats.org/drawingml/2006/main">
            <a:off x="457200" y="274320"/>
            <a:ext cx="1124712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/>
              <a:t>render=image — packet-beta — byte layout</a:t>
            </a:r>
          </a:p>
        </p:txBody>
      </p:sp>
      <p:pic>
        <p:nvPicPr>
          <p:cNvPr id="100089" name="Picture 1" descr="mermaid:packet-beta&#10;  0-15: &quot;Source Port&quot;&#10;  16-31: &quot;Destination Port&quot;&#10;  32-63: &quot;Sequence Number&quot;"/>
          <p:cNvPicPr>
            <a:picLocks noChangeAspect="1"/>
          </p:cNvPicPr>
          <p:nvPr/>
        </p:nvPicPr>
        <p:blipFill>
          <a:blip xmlns:r="http://schemas.openxmlformats.org/officeDocument/2006/relationships" r:embed="Raa1e16c7d15f4d18"/>
          <a:stretch>
            <a:fillRect/>
          </a:stretch>
        </p:blipFill>
        <p:spPr>
          <a:xfrm>
            <a:off x="914400" y="3148186"/>
            <a:ext cx="10332720" cy="1201708"/>
          </a:xfrm>
          <a:prstGeom prst="rect">
            <a:avLst/>
          </a:prstGeom>
        </p:spPr>
      </p:pic>
    </p:spTree>
  </p:cSld>
</p:sld>
</file>

<file path=ppt/slides/slide21.xml><?xml version="1.0" encoding="utf-8"?>
<p:sld xmlns:r="http://schemas.openxmlformats.org/officeDocument/2006/relationships"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90" name="TextBox 1"/>
          <p:cNvSpPr txBox="1"/>
          <p:nvPr/>
        </p:nvSpPr>
        <p:spPr>
          <a:xfrm xmlns:a="http://schemas.openxmlformats.org/drawingml/2006/main">
            <a:off x="457200" y="274320"/>
            <a:ext cx="1124712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/>
              <a:t>render=image — kanban — board</a:t>
            </a:r>
          </a:p>
        </p:txBody>
      </p:sp>
      <p:pic>
        <p:nvPicPr>
          <p:cNvPr id="100091" name="Picture 1" descr="mermaid:kanban&#10;  Todo&#10;    t1[Design]&#10;  In Progress&#10;    t2[Build]&#10;  Done&#10;    t3[Ship]"/>
          <p:cNvPicPr>
            <a:picLocks noChangeAspect="1"/>
          </p:cNvPicPr>
          <p:nvPr/>
        </p:nvPicPr>
        <p:blipFill>
          <a:blip xmlns:r="http://schemas.openxmlformats.org/officeDocument/2006/relationships" r:embed="Rabbfbda348f24c0a"/>
          <a:stretch>
            <a:fillRect/>
          </a:stretch>
        </p:blipFill>
        <p:spPr>
          <a:xfrm>
            <a:off x="914400" y="2869144"/>
            <a:ext cx="10332720" cy="1759791"/>
          </a:xfrm>
          <a:prstGeom prst="rect">
            <a:avLst/>
          </a:prstGeom>
        </p:spPr>
      </p:pic>
    </p:spTree>
  </p:cSld>
</p:sld>
</file>

<file path=ppt/slides/slide22.xml><?xml version="1.0" encoding="utf-8"?>
<p:sld xmlns:r="http://schemas.openxmlformats.org/officeDocument/2006/relationships"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92" name="TextBox 1"/>
          <p:cNvSpPr txBox="1"/>
          <p:nvPr/>
        </p:nvSpPr>
        <p:spPr>
          <a:xfrm xmlns:a="http://schemas.openxmlformats.org/drawingml/2006/main">
            <a:off x="457200" y="274320"/>
            <a:ext cx="1124712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/>
              <a:t>render=image — architecture-beta — cloud services</a:t>
            </a:r>
          </a:p>
        </p:txBody>
      </p:sp>
      <p:pic>
        <p:nvPicPr>
          <p:cNvPr id="100093" name="Picture 1" descr="mermaid:architecture-beta&#10;  group api(cloud)[API]&#10;  service db(database)[Database] in api&#10;  service server(server)[Server] in api&#10;  db:L -- R:server"/>
          <p:cNvPicPr>
            <a:picLocks noChangeAspect="1"/>
          </p:cNvPicPr>
          <p:nvPr/>
        </p:nvPicPr>
        <p:blipFill>
          <a:blip xmlns:r="http://schemas.openxmlformats.org/officeDocument/2006/relationships" r:embed="R7e7d4d39df3d447d"/>
          <a:stretch>
            <a:fillRect/>
          </a:stretch>
        </p:blipFill>
        <p:spPr>
          <a:xfrm>
            <a:off x="1127472" y="1097280"/>
            <a:ext cx="9906575" cy="5303520"/>
          </a:xfrm>
          <a:prstGeom prst="rect">
            <a:avLst/>
          </a:prstGeom>
        </p:spPr>
      </p:pic>
    </p:spTree>
  </p:cSld>
</p:sld>
</file>

<file path=ppt/slides/slide2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94" name="TextBox 1"/>
          <p:cNvSpPr txBox="1"/>
          <p:nvPr/>
        </p:nvSpPr>
        <p:spPr>
          <a:xfrm xmlns:a="http://schemas.openxmlformats.org/drawingml/2006/main">
            <a:off x="457200" y="274320"/>
            <a:ext cx="1124712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/>
              <a:t>render=image — radar-beta — multi-axis scores</a:t>
            </a:r>
          </a:p>
        </p:txBody>
      </p:sp>
      <p:pic>
        <p:nvPicPr>
          <p:cNvPr id="100095" name="Picture 1" descr="mermaid:radar-beta&#10;  title Skill Assessment&#10;  axis a[&quot;Coding&quot;], b[&quot;Design&quot;], c[&quot;Testing&quot;], d[&quot;Docs&quot;]&#10;  curve x{80, 60, 70, 50}"/>
          <p:cNvPicPr>
            <a:picLocks noChangeAspect="1"/>
          </p:cNvPicPr>
          <p:nvPr/>
        </p:nvPicPr>
        <p:blipFill>
          <a:blip xmlns:r="http://schemas.openxmlformats.org/officeDocument/2006/relationships" r:embed="R7508fe2de6a34c40"/>
          <a:stretch>
            <a:fillRect/>
          </a:stretch>
        </p:blipFill>
        <p:spPr>
          <a:xfrm>
            <a:off x="3377005" y="1097280"/>
            <a:ext cx="5407510" cy="5303520"/>
          </a:xfrm>
          <a:prstGeom prst="rect">
            <a:avLst/>
          </a:prstGeom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OfficeCLI/1.0.129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2026-07-06T20:20:55Z</dcterms:created>
  <cp:lastModifiedBy>OfficeCLI</cp:lastModifiedBy>
  <dcterms:modified xsi:type="dcterms:W3CDTF">2026-07-06T20:20:55Z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1.0.129</vt:lpwstr>
  </op:property>
  <op:property fmtid="{D5CDD505-2E9C-101B-9397-08002B2CF9AE}" pid="3" name="OfficeCLI.LastModified">
    <vt:lpwstr xmlns:vt="http://schemas.openxmlformats.org/officeDocument/2006/docPropsVTypes">2026-07-06T20:23:03Z</vt:lpwstr>
  </op:property>
</op:Properties>
</file>